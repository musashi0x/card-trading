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TopDeck — non-custodial trading card marketplace on Stellar. Consumer &amp; Merchant Payment Flows track. The whole pitch: nobody goes first, nobody has to trust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problem: in any peer-to-peer card trade someone must go first. Marketplaces solve it by custodying both sides and charging 10-20%. Three pains: trust gap, opaque fees, payment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insight: the payment flow IS the product. The contract holds the card and the money; neither side can touch either one. Nobody goes first; nobody trusts 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it works: merchant lists (card locks), consumer offers (USDC locks), merchant accepts (one atomic tx), or consumer withdraws. Buy-now is just an auto-accepting offer — same code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proof + the money math. Before: contract holds card AND 40 USDC. On a 50 USDC sale: 39.2 to seller, 0.8 platform (2%). All or nothing. Withdraw returns funds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Breadth: one contract, four flows — fixed price, auctions with anti-snipe, card-for-card swaps, physical-card escrow with dispute resolution.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Consumer-grade checkout removes the 3 blockers: passkey smart wallets (no seed phrase), gasless via Launchtube (no XLM), pay with any asset (DEX path payment). Plus on-chain royalties.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 the hood: cards as SAC assets, one Soroban Rust contract, DEX path payments, indexer reconciling to Postgres. Chain is source of truth. 6 unit tests + headless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non-custodial payments that feel like checkout. Built on Stellar / Soroban / testnet. TopDeck.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 rot="21120000">
            <a:off x="8732520" y="105156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151E38"/>
          </a:solidFill>
          <a:ln w="1524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 rot="240000">
            <a:off x="9464040" y="86868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151E38"/>
          </a:solidFill>
          <a:ln w="1524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 rot="720000">
            <a:off x="10195560" y="1280160"/>
            <a:ext cx="1828800" cy="2560320"/>
          </a:xfrm>
          <a:prstGeom prst="roundRect">
            <a:avLst>
              <a:gd name="adj" fmla="val 10000"/>
            </a:avLst>
          </a:prstGeom>
          <a:solidFill>
            <a:srgbClr val="151E38"/>
          </a:solidFill>
          <a:ln w="1524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 rot="240000">
            <a:off x="9372600" y="1417320"/>
            <a:ext cx="1920240" cy="2697480"/>
          </a:xfrm>
          <a:prstGeom prst="roundRect">
            <a:avLst>
              <a:gd name="adj" fmla="val 10000"/>
            </a:avLst>
          </a:prstGeom>
          <a:solidFill>
            <a:srgbClr val="1E2A4C"/>
          </a:solidFill>
          <a:ln w="1905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240000">
            <a:off x="10012680" y="2057400"/>
            <a:ext cx="640080" cy="640080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 rot="240000">
            <a:off x="9372600" y="3063240"/>
            <a:ext cx="1920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NOVA</a:t>
            </a:r>
            <a:r>
              <a:rPr sz="1500" b="1" i="0">
                <a:solidFill>
                  <a:srgbClr val="F5B301"/>
                </a:solidFill>
                <a:latin typeface="Calibri"/>
              </a:rPr>
              <a:t>  DRAGON</a:t>
            </a:r>
          </a:p>
        </p:txBody>
      </p:sp>
      <p:sp>
        <p:nvSpPr>
          <p:cNvPr id="9" name="TextBox 8"/>
          <p:cNvSpPr txBox="1"/>
          <p:nvPr/>
        </p:nvSpPr>
        <p:spPr>
          <a:xfrm rot="240000">
            <a:off x="9372600" y="352044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Calibri"/>
              </a:rPr>
              <a:t>50 USDC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234440"/>
            <a:ext cx="749807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301"/>
                </a:solidFill>
                <a:latin typeface="Calibri"/>
              </a:rPr>
              <a:t>CONSUMER &amp; MERCHANT PAYMENT 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7830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 i="0">
                <a:solidFill>
                  <a:srgbClr val="FFFFFF"/>
                </a:solidFill>
                <a:latin typeface="Century Schoolbook"/>
              </a:rPr>
              <a:t>TopDeck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2DD4BF"/>
                </a:solidFill>
                <a:latin typeface="Calibri"/>
              </a:rPr>
              <a:t>Bid, win, collect. </a:t>
            </a:r>
            <a:r>
              <a:rPr sz="2400" b="0" i="0">
                <a:solidFill>
                  <a:srgbClr val="FFFFFF"/>
                </a:solidFill>
                <a:latin typeface="Calibri"/>
              </a:rPr>
              <a:t>Non-custodial settlement on Stellar.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9AA7C7"/>
                </a:solidFill>
                <a:latin typeface="Calibri"/>
              </a:rPr>
              <a:t>A trading-card marketplace where the </a:t>
            </a:r>
            <a:r>
              <a:rPr sz="1600" b="1" i="0">
                <a:solidFill>
                  <a:srgbClr val="F5B301"/>
                </a:solidFill>
                <a:latin typeface="Calibri"/>
              </a:rPr>
              <a:t>payment flow is the product</a:t>
            </a:r>
            <a:r>
              <a:rPr sz="1600" b="0" i="0">
                <a:solidFill>
                  <a:srgbClr val="9AA7C7"/>
                </a:solidFill>
                <a:latin typeface="Calibri"/>
              </a:rPr>
              <a:t>. Cards are on-chain assets; every trade settles atomically through a single Soroban escrow contract — nobody goes first, nobody has to trust 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241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Stellar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75688" y="580644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5806440"/>
            <a:ext cx="10241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Soroban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28416" y="580644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8416" y="5806440"/>
            <a:ext cx="10241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entury Schoolbook"/>
              </a:rPr>
              <a:t>In every card trade, </a:t>
            </a:r>
            <a:r>
              <a:rPr sz="4000" b="1" i="0">
                <a:solidFill>
                  <a:srgbClr val="F97066"/>
                </a:solidFill>
                <a:latin typeface="Century Schoolbook"/>
              </a:rPr>
              <a:t>somebody has to go first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2743200"/>
            <a:ext cx="777240" cy="77724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F97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97066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749039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Trust gap on payment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480560"/>
            <a:ext cx="2670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Ship before you're paid, or pay before it ships. Marketplaces "fix" this by custodying both sides — becoming the risk they remove.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233172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92040" y="2743200"/>
            <a:ext cx="777240" cy="77724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27432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B301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3749039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Opaque, costly settlement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4480560"/>
            <a:ext cx="2670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Card platforms and processors take 10–20% in combined fees, settle in days, and give sellers no on-chain proof of ownership or transfer.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331720"/>
            <a:ext cx="3401568" cy="356616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95360" y="2743200"/>
            <a:ext cx="777240" cy="77724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7432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DD4B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749039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Payment friction kills flows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480560"/>
            <a:ext cx="267004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Crypto marketplaces demand the exact asset, gas to spend, seed phrases to guard, and scary signatures — stopping mainstream buyers cold.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9AA7C7"/>
                </a:solidFill>
                <a:latin typeface="Calibri"/>
              </a:rPr>
              <a:t>No card marketplace combines </a:t>
            </a:r>
            <a:r>
              <a:rPr sz="1500" b="1" i="1">
                <a:solidFill>
                  <a:srgbClr val="FFFFFF"/>
                </a:solidFill>
                <a:latin typeface="Calibri"/>
              </a:rPr>
              <a:t>trustless atomic settlement</a:t>
            </a:r>
            <a:r>
              <a:rPr sz="1500" b="0" i="1">
                <a:solidFill>
                  <a:srgbClr val="9AA7C7"/>
                </a:solidFill>
                <a:latin typeface="Calibri"/>
              </a:rPr>
              <a:t> with a </a:t>
            </a:r>
            <a:r>
              <a:rPr sz="1500" b="1" i="1">
                <a:solidFill>
                  <a:srgbClr val="FFFFFF"/>
                </a:solidFill>
                <a:latin typeface="Calibri"/>
              </a:rPr>
              <a:t>consumer-grade payment experience</a:t>
            </a:r>
            <a:r>
              <a:rPr sz="1500" b="0" i="1">
                <a:solidFill>
                  <a:srgbClr val="9AA7C7"/>
                </a:solidFill>
                <a:latin typeface="Calibri"/>
              </a:rPr>
              <a:t> — without a custodial middleman.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5B301"/>
                </a:solidFill>
                <a:latin typeface="Calibri"/>
              </a:rPr>
              <a:t>The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6015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1" i="0">
                <a:solidFill>
                  <a:srgbClr val="FFFFFF"/>
                </a:solidFill>
                <a:latin typeface="Century Schoolbook"/>
              </a:rPr>
              <a:t>The payment flow </a:t>
            </a:r>
            <a:r>
              <a:rPr sz="5200" b="1" i="1">
                <a:solidFill>
                  <a:srgbClr val="F5B301"/>
                </a:solidFill>
                <a:latin typeface="Century Schoolbook"/>
              </a:rPr>
              <a:t>is</a:t>
            </a:r>
            <a:r>
              <a:rPr sz="5200" b="1" i="0">
                <a:solidFill>
                  <a:srgbClr val="FFFFFF"/>
                </a:solidFill>
                <a:latin typeface="Century Schoolbook"/>
              </a:rPr>
              <a:t>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3383280"/>
            <a:ext cx="779983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9AA7C7"/>
                </a:solidFill>
                <a:latin typeface="Calibri"/>
              </a:rPr>
              <a:t>The contract holds the card and the money. Neither side can touch either one — and that's the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03807" y="443484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15287" y="4754880"/>
            <a:ext cx="502920" cy="5029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46807" y="4709160"/>
            <a:ext cx="32003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Nobody goes 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46807" y="534924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The card and the payment both lock inside the contract before anything settles.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4434840"/>
            <a:ext cx="466344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35927" y="4754880"/>
            <a:ext cx="502920" cy="502920"/>
          </a:xfrm>
          <a:prstGeom prst="ellipse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7447" y="4709160"/>
            <a:ext cx="32003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Nobody trusts 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67447" y="5349240"/>
            <a:ext cx="320039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The backend never custodies funds. The chain is the source of truth for ownership and money.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Schoolbook"/>
              </a:rPr>
              <a:t>One escrow contract, four moves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43000" y="2468880"/>
            <a:ext cx="502920" cy="50292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68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5B301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Merchant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21122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Card locks inside the contract — not our wallet.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19856" y="3063240"/>
            <a:ext cx="2926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A7799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94176" y="2148840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14215" y="2468880"/>
            <a:ext cx="502920" cy="50292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14215" y="2468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DD4B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8496" y="320040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Consumer offers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8496" y="3749039"/>
            <a:ext cx="21122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Buyer's USDC locks in the same contract.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063240"/>
            <a:ext cx="2926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A7799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65392" y="2148840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5431" y="2468880"/>
            <a:ext cx="502920" cy="50292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85431" y="2468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2" y="320040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Merchant accepts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9712" y="3749039"/>
            <a:ext cx="21122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One atomic tx: card→buyer, USDC−fee→seller.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62288" y="3063240"/>
            <a:ext cx="29260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6A7799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36607" y="2148840"/>
            <a:ext cx="2615184" cy="246888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56647" y="2468880"/>
            <a:ext cx="502920" cy="50292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9AA7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56647" y="2468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9AA7C7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3200400"/>
            <a:ext cx="2112263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Or consumer withdraws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3749039"/>
            <a:ext cx="2112263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Offer pulled anytime before accept. Funds returned.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5074920"/>
            <a:ext cx="10543032" cy="1143000"/>
          </a:xfrm>
          <a:prstGeom prst="roundRect">
            <a:avLst>
              <a:gd name="adj" fmla="val 6000"/>
            </a:avLst>
          </a:prstGeom>
          <a:solidFill>
            <a:srgbClr val="1E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3000" y="5394960"/>
            <a:ext cx="502920" cy="502920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39496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A0F1E"/>
                </a:solidFill>
                <a:latin typeface="Calibri"/>
              </a:rPr>
              <a:t>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65960" y="5230368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Buy-now is just an offer at the asking price that auto-accepts.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400" b="0" i="0">
                <a:solidFill>
                  <a:srgbClr val="9AA7C7"/>
                </a:solidFill>
                <a:latin typeface="Calibri"/>
              </a:rPr>
              <a:t>Both UX paths share the exact same settlement code — one primitive, two 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The 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Schoolbook"/>
              </a:rPr>
              <a:t>Atomic settlement, transparent fee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48840"/>
            <a:ext cx="5029200" cy="3977639"/>
          </a:xfrm>
          <a:prstGeom prst="roundRect">
            <a:avLst>
              <a:gd name="adj" fmla="val 5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4231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5B301"/>
                </a:solidFill>
                <a:latin typeface="Calibri"/>
              </a:rPr>
              <a:t>BEFORE  —  contract holds both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017520"/>
            <a:ext cx="4389120" cy="868680"/>
          </a:xfrm>
          <a:prstGeom prst="roundRect">
            <a:avLst>
              <a:gd name="adj" fmla="val 10000"/>
            </a:avLst>
          </a:prstGeom>
          <a:solidFill>
            <a:srgbClr val="1E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17320" y="3273552"/>
            <a:ext cx="256032" cy="365760"/>
          </a:xfrm>
          <a:prstGeom prst="roundRect">
            <a:avLst>
              <a:gd name="adj" fmla="val 18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3017520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Nova Dragon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3264408"/>
            <a:ext cx="1143000" cy="384048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3264408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Calibri"/>
              </a:rPr>
              <a:t>LOCKED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069079"/>
            <a:ext cx="4389120" cy="868680"/>
          </a:xfrm>
          <a:prstGeom prst="roundRect">
            <a:avLst>
              <a:gd name="adj" fmla="val 10000"/>
            </a:avLst>
          </a:prstGeom>
          <a:solidFill>
            <a:srgbClr val="1E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17320" y="4325112"/>
            <a:ext cx="365760" cy="365760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0240" y="4069079"/>
            <a:ext cx="27432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40 USDC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4315967"/>
            <a:ext cx="1143000" cy="384048"/>
          </a:xfrm>
          <a:prstGeom prst="roundRect">
            <a:avLst>
              <a:gd name="adj" fmla="val 50000"/>
            </a:avLst>
          </a:prstGeom>
          <a:noFill/>
          <a:ln w="1651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315967"/>
            <a:ext cx="1143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Calibri"/>
              </a:rPr>
              <a:t>LOCKED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257800"/>
            <a:ext cx="4389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9AA7C7"/>
                </a:solidFill>
                <a:latin typeface="Calibri"/>
              </a:rPr>
              <a:t>The seller doesn't have the cash. We don't have the cash. Neither side went first.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148840"/>
            <a:ext cx="5239512" cy="3977639"/>
          </a:xfrm>
          <a:prstGeom prst="roundRect">
            <a:avLst>
              <a:gd name="adj" fmla="val 5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4231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  <a:latin typeface="Calibri"/>
              </a:rPr>
              <a:t>AFTER  —  one transaction, or none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880360"/>
            <a:ext cx="4572000" cy="91440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entury Schoolbook"/>
              </a:rPr>
              <a:t>50</a:t>
            </a:r>
            <a:r>
              <a:rPr sz="2000" b="1" i="0">
                <a:solidFill>
                  <a:srgbClr val="9AA7C7"/>
                </a:solidFill>
                <a:latin typeface="Calibri"/>
              </a:rPr>
              <a:t>  USDC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AA7C7"/>
                </a:solidFill>
                <a:latin typeface="Calibri"/>
              </a:rPr>
              <a:t>asking price, paid by the buyer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46520" y="4434840"/>
            <a:ext cx="4617720" cy="0"/>
          </a:xfrm>
          <a:prstGeom prst="bentConnector3">
            <a:avLst/>
          </a:prstGeom>
          <a:ln w="12700">
            <a:solidFill>
              <a:srgbClr val="1E2A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46520" y="454456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7C7"/>
                </a:solidFill>
                <a:latin typeface="Calibri"/>
              </a:rPr>
              <a:t>Seller receives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544568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34D399"/>
                </a:solidFill>
                <a:latin typeface="Calibri"/>
              </a:rPr>
              <a:t>39.2 </a:t>
            </a:r>
            <a:r>
              <a:rPr sz="1200" b="0" i="0">
                <a:solidFill>
                  <a:srgbClr val="34D399"/>
                </a:solidFill>
                <a:latin typeface="Calibri"/>
              </a:rPr>
              <a:t>USDC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5166359"/>
            <a:ext cx="4617720" cy="0"/>
          </a:xfrm>
          <a:prstGeom prst="bentConnector3">
            <a:avLst/>
          </a:prstGeom>
          <a:ln w="12700">
            <a:solidFill>
              <a:srgbClr val="1E2A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46520" y="527608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7C7"/>
                </a:solidFill>
                <a:latin typeface="Calibri"/>
              </a:rPr>
              <a:t>Platform fee (2%)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5276088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200" b="1" i="0">
                <a:solidFill>
                  <a:srgbClr val="F5B301"/>
                </a:solidFill>
                <a:latin typeface="Calibri"/>
              </a:rPr>
              <a:t>0.8 </a:t>
            </a:r>
            <a:r>
              <a:rPr sz="1200" b="0" i="0">
                <a:solidFill>
                  <a:srgbClr val="F5B301"/>
                </a:solidFill>
                <a:latin typeface="Calibri"/>
              </a:rPr>
              <a:t>USDC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446520" y="5897879"/>
            <a:ext cx="4617720" cy="0"/>
          </a:xfrm>
          <a:prstGeom prst="bentConnector3">
            <a:avLst/>
          </a:prstGeom>
          <a:ln w="12700">
            <a:solidFill>
              <a:srgbClr val="1E2A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46520" y="6035040"/>
            <a:ext cx="4617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All of it, or none of it. </a:t>
            </a:r>
            <a:r>
              <a:rPr sz="1300" b="0" i="0">
                <a:solidFill>
                  <a:srgbClr val="9AA7C7"/>
                </a:solidFill>
                <a:latin typeface="Calibri"/>
              </a:rPr>
              <a:t>Withdraw anytime before accept — funds return instantly.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Breadth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Schoolbook"/>
              </a:rPr>
              <a:t>One contract, every trade 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7C7"/>
                </a:solidFill>
                <a:latin typeface="Calibri"/>
              </a:rPr>
              <a:t>The same settlement primitive handles four flows — assets lock, card + payment release together, or not at 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000" y="292608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834640"/>
            <a:ext cx="4160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Fixed-price listings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42900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List, make &amp; accept offers, buy now — the core payment 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51460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0" y="292608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03720" y="2834640"/>
            <a:ext cx="4160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Timed English auctions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42900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Anti-snipe extension, reserve price, on-chain settle to the winner.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5262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493776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4846320"/>
            <a:ext cx="4160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Card-for-card swaps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544068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Both cards lock and exchange atomically, with optional cash sweetener.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26280"/>
            <a:ext cx="5074920" cy="169164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83680" y="4937760"/>
            <a:ext cx="109728" cy="868680"/>
          </a:xfrm>
          <a:prstGeom prst="roundRect">
            <a:avLst>
              <a:gd name="adj" fmla="val 50000"/>
            </a:avLst>
          </a:prstGeom>
          <a:solidFill>
            <a:srgbClr val="F97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846320"/>
            <a:ext cx="4160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Physical-card escrow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440680"/>
            <a:ext cx="4160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Funded → shipped → released, with a confirm window and arbiter disputes.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Consumer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entury Schoolbook"/>
              </a:rPr>
              <a:t>Payments that feel like checkout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9AA7C7"/>
                </a:solidFill>
                <a:latin typeface="Calibri"/>
              </a:rPr>
              <a:t>Removing the three things that stop mainstream buyers: seed phrases, gas, and holding the exact asset.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146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2926080"/>
            <a:ext cx="822960" cy="82296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63040" y="3081528"/>
            <a:ext cx="274320" cy="274320"/>
          </a:xfrm>
          <a:prstGeom prst="ellipse">
            <a:avLst/>
          </a:prstGeom>
          <a:noFill/>
          <a:ln w="381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399032" y="3218688"/>
            <a:ext cx="402336" cy="310896"/>
          </a:xfrm>
          <a:prstGeom prst="round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Passkey smart wallets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2670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Biometric “Pay with Face ID” via Soroban smart-wallet accounts. No seed phrase, deploy-on-first-use.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25146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2040" y="2926080"/>
            <a:ext cx="822960" cy="82296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ightning Bolt 13"/>
          <p:cNvSpPr/>
          <p:nvPr/>
        </p:nvSpPr>
        <p:spPr>
          <a:xfrm>
            <a:off x="5148072" y="3099816"/>
            <a:ext cx="310896" cy="475488"/>
          </a:xfrm>
          <a:prstGeom prst="lightningBol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3977639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Gasless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4617720"/>
            <a:ext cx="2670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Relayed through Launchtube, so buyers never need to hold XLM for fees. The biggest onboarding barrier, gone.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5146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2926080"/>
            <a:ext cx="822960" cy="822960"/>
          </a:xfrm>
          <a:prstGeom prst="ellipse">
            <a:avLst/>
          </a:prstGeom>
          <a:solidFill>
            <a:srgbClr val="1E2A4C"/>
          </a:solidFill>
          <a:ln w="25400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eft-Right Arrow 18"/>
          <p:cNvSpPr/>
          <p:nvPr/>
        </p:nvSpPr>
        <p:spPr>
          <a:xfrm>
            <a:off x="8750808" y="3209544"/>
            <a:ext cx="512064" cy="256032"/>
          </a:xfrm>
          <a:prstGeom prst="left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977639"/>
            <a:ext cx="26700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FFFFF"/>
                </a:solidFill>
                <a:latin typeface="Calibri"/>
              </a:rPr>
              <a:t>Pay with any asset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617720"/>
            <a:ext cx="267004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9AA7C7"/>
                </a:solidFill>
                <a:latin typeface="Calibri"/>
              </a:rPr>
              <a:t>Pay in XLM or any Stellar asset; a DEX path payment converts to the seller's USDC on-chain, bounded slippage.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1">
                <a:solidFill>
                  <a:srgbClr val="F5B301"/>
                </a:solidFill>
                <a:latin typeface="Calibri"/>
              </a:rPr>
              <a:t>Plus on-chain creator royalties — every secondary sale auto-splits seller / platform / creator.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Under the hood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96012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entury Schoolbook"/>
              </a:rPr>
              <a:t>Stellar is foundational, not bolted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450591"/>
            <a:ext cx="402336" cy="40233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50591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A0F1E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3134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Cards as Stellar assets (SAC)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67004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Ownership lives on-chain; the contract can transfer cards atomically.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82112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3438144"/>
            <a:ext cx="402336" cy="40233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38144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A0F1E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009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Single Soroban contract (Rust)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6576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One escrow handles listings, offers, auctions, swaps &amp; physical escrow.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169664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4425696"/>
            <a:ext cx="402336" cy="40233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25696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A0F1E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28853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Path payments via Stellar 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64515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PathPaymentStrictReceive lets buyers pay any asset, sellers get exact USDC.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157216"/>
            <a:ext cx="5943600" cy="914400"/>
          </a:xfrm>
          <a:prstGeom prst="roundRect">
            <a:avLst>
              <a:gd name="adj" fmla="val 7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5413248"/>
            <a:ext cx="402336" cy="402336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13248"/>
            <a:ext cx="4023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0A0F1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27608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Indexer: Soroban RPC + Horizon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3270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9AA7C7"/>
                </a:solidFill>
                <a:latin typeface="Calibri"/>
              </a:rPr>
              <a:t>Reconciles contract events into Postgres — a read mirror, chain stays truth.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2194560"/>
            <a:ext cx="4325112" cy="3931920"/>
          </a:xfrm>
          <a:prstGeom prst="roundRect">
            <a:avLst>
              <a:gd name="adj" fmla="val 5000"/>
            </a:avLst>
          </a:prstGeom>
          <a:solidFill>
            <a:srgbClr val="151E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24231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Calibri"/>
              </a:rPr>
              <a:t>THE STACK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288036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Monorepo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88036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pnpm + turbo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3319272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Frontend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31927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Next.js · Wallets Kit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3758183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Backend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758183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Express + TypeScript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4197096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Database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197096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Postgres + Drizzle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636008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Contract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0" y="4636008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Soroban (Rust)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60920" y="507492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9AA7C7"/>
                </a:solidFill>
                <a:latin typeface="Calibri"/>
              </a:rPr>
              <a:t>Network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074920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Stellar testnet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360920" y="5532120"/>
            <a:ext cx="3703320" cy="0"/>
          </a:xfrm>
          <a:prstGeom prst="bentConnector3">
            <a:avLst/>
          </a:prstGeom>
          <a:ln w="12700">
            <a:solidFill>
              <a:srgbClr val="1E2A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7360920" y="5650992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1">
                <a:solidFill>
                  <a:srgbClr val="6A7799"/>
                </a:solidFill>
                <a:latin typeface="Calibri"/>
              </a:rPr>
              <a:t>6 contract unit tests · headless e2e verifies atomic settle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9680" y="1463040"/>
            <a:ext cx="2377440" cy="3383280"/>
          </a:xfrm>
          <a:prstGeom prst="roundRect">
            <a:avLst>
              <a:gd name="adj" fmla="val 9000"/>
            </a:avLst>
          </a:prstGeom>
          <a:solidFill>
            <a:srgbClr val="1E2A4C"/>
          </a:solidFill>
          <a:ln w="19050">
            <a:solidFill>
              <a:srgbClr val="F5B3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738360" y="2148840"/>
            <a:ext cx="640080" cy="640080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38360" y="214884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A0F1E"/>
                </a:solidFill>
                <a:latin typeface="Calibri"/>
              </a:rPr>
              <a:t>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0" y="306324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ESCROW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3474720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Calibri"/>
              </a:rPr>
              <a:t>holds both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B301"/>
                </a:solidFill>
                <a:latin typeface="Calibri"/>
              </a:rPr>
              <a:t>The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78638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entury Schoolbook"/>
              </a:rPr>
              <a:t>Non-custodial payments</a:t>
            </a:r>
          </a:p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5B301"/>
                </a:solidFill>
                <a:latin typeface="Century Schoolbook"/>
              </a:rPr>
              <a:t>that feel like checkout.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31920"/>
            <a:ext cx="7589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AA7C7"/>
                </a:solidFill>
                <a:latin typeface="Calibri"/>
              </a:rPr>
              <a:t>One Soroban contract settles fixed-price sales, auctions, swaps and physical escrow — atomically, with passkeys, gasless transactions and on-chain royalties. Nobody goes first. Nobody has to trust 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49240"/>
            <a:ext cx="2093976" cy="50292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209397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Built on Stellar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45536" y="5349240"/>
            <a:ext cx="1147572" cy="50292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45536" y="5349240"/>
            <a:ext cx="11475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Soroban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1708" y="5349240"/>
            <a:ext cx="1147572" cy="502920"/>
          </a:xfrm>
          <a:prstGeom prst="roundRect">
            <a:avLst>
              <a:gd name="adj" fmla="val 50000"/>
            </a:avLst>
          </a:prstGeom>
          <a:solidFill>
            <a:srgbClr val="151E38"/>
          </a:solidFill>
          <a:ln w="12700">
            <a:solidFill>
              <a:srgbClr val="1E2A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1708" y="5349240"/>
            <a:ext cx="11475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9AA7C7"/>
                </a:solidFill>
                <a:latin typeface="Calibri"/>
              </a:rPr>
              <a:t>Testnet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5349240"/>
            <a:ext cx="1147572" cy="50292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5349240"/>
            <a:ext cx="114757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A0F1E"/>
                </a:solidFill>
                <a:latin typeface="Calibri"/>
              </a:rPr>
              <a:t>TopDeck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